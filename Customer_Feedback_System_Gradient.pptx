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sldIdLst>
    <p:sldId id="256" r:id="rId2"/>
    <p:sldId id="257" r:id="rId3"/>
    <p:sldId id="258" r:id="rId4"/>
    <p:sldId id="266" r:id="rId5"/>
    <p:sldId id="259" r:id="rId6"/>
    <p:sldId id="260" r:id="rId7"/>
    <p:sldId id="262" r:id="rId8"/>
    <p:sldId id="269" r:id="rId9"/>
    <p:sldId id="263" r:id="rId10"/>
    <p:sldId id="264" r:id="rId11"/>
    <p:sldId id="265"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013" autoAdjust="0"/>
  </p:normalViewPr>
  <p:slideViewPr>
    <p:cSldViewPr snapToGrid="0" snapToObjects="1">
      <p:cViewPr>
        <p:scale>
          <a:sx n="75" d="100"/>
          <a:sy n="75" d="100"/>
        </p:scale>
        <p:origin x="1666" y="9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1353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88535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95622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57074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244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0094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0123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8389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4868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04707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6978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26290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79402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7307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45864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615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11/3/2025</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684409077"/>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3853" y="2505670"/>
            <a:ext cx="7663069" cy="923330"/>
          </a:xfrm>
          <a:prstGeom prst="rect">
            <a:avLst/>
          </a:prstGeom>
          <a:noFill/>
        </p:spPr>
        <p:txBody>
          <a:bodyPr wrap="square">
            <a:spAutoFit/>
          </a:bodyPr>
          <a:lstStyle/>
          <a:p>
            <a:endParaRPr sz="1400" dirty="0"/>
          </a:p>
          <a:p>
            <a:pPr algn="ctr">
              <a:defRPr sz="4800" b="1">
                <a:solidFill>
                  <a:srgbClr val="FFFFFF"/>
                </a:solidFill>
              </a:defRPr>
            </a:pPr>
            <a:r>
              <a:rPr sz="4000" dirty="0">
                <a:solidFill>
                  <a:schemeClr val="tx1">
                    <a:lumMod val="95000"/>
                    <a:lumOff val="5000"/>
                  </a:schemeClr>
                </a:solidFill>
              </a:rPr>
              <a:t>Customer Feedback System</a:t>
            </a:r>
          </a:p>
        </p:txBody>
      </p:sp>
      <p:sp>
        <p:nvSpPr>
          <p:cNvPr id="3" name="TextBox 2">
            <a:extLst>
              <a:ext uri="{FF2B5EF4-FFF2-40B4-BE49-F238E27FC236}">
                <a16:creationId xmlns:a16="http://schemas.microsoft.com/office/drawing/2014/main" id="{6A69C693-2257-86C7-F1F1-AAB5F4D2F26C}"/>
              </a:ext>
            </a:extLst>
          </p:cNvPr>
          <p:cNvSpPr txBox="1"/>
          <p:nvPr/>
        </p:nvSpPr>
        <p:spPr>
          <a:xfrm>
            <a:off x="6341165" y="5903843"/>
            <a:ext cx="1492716" cy="369332"/>
          </a:xfrm>
          <a:prstGeom prst="rect">
            <a:avLst/>
          </a:prstGeom>
          <a:noFill/>
        </p:spPr>
        <p:txBody>
          <a:bodyPr wrap="none" rtlCol="0">
            <a:spAutoFit/>
          </a:bodyPr>
          <a:lstStyle/>
          <a:p>
            <a:r>
              <a:rPr lang="en-US" dirty="0"/>
              <a:t>By….Sridhar</a:t>
            </a:r>
            <a:endParaRPr lang="en-IN"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731520"/>
            <a:ext cx="4418197" cy="923330"/>
          </a:xfrm>
          <a:prstGeom prst="rect">
            <a:avLst/>
          </a:prstGeom>
          <a:noFill/>
        </p:spPr>
        <p:txBody>
          <a:bodyPr wrap="none">
            <a:spAutoFit/>
          </a:bodyPr>
          <a:lstStyle/>
          <a:p>
            <a:endParaRPr dirty="0"/>
          </a:p>
          <a:p>
            <a:pPr>
              <a:defRPr sz="3600" b="1">
                <a:solidFill>
                  <a:srgbClr val="0064FF"/>
                </a:solidFill>
              </a:defRPr>
            </a:pPr>
            <a:r>
              <a:rPr dirty="0">
                <a:solidFill>
                  <a:schemeClr val="accent3"/>
                </a:solidFill>
              </a:rPr>
              <a:t>Project Abstraction</a:t>
            </a:r>
          </a:p>
        </p:txBody>
      </p:sp>
      <p:sp>
        <p:nvSpPr>
          <p:cNvPr id="3" name="TextBox 2"/>
          <p:cNvSpPr txBox="1"/>
          <p:nvPr/>
        </p:nvSpPr>
        <p:spPr>
          <a:xfrm>
            <a:off x="776310" y="1828800"/>
            <a:ext cx="8107680" cy="3139321"/>
          </a:xfrm>
          <a:prstGeom prst="rect">
            <a:avLst/>
          </a:prstGeom>
          <a:noFill/>
        </p:spPr>
        <p:txBody>
          <a:bodyPr wrap="square">
            <a:spAutoFit/>
          </a:bodyPr>
          <a:lstStyle/>
          <a:p>
            <a:pPr>
              <a:defRPr sz="1800"/>
            </a:pPr>
            <a:r>
              <a:rPr lang="en-US" dirty="0"/>
              <a:t>The Customer Feedback System is designed to collect, manage, and respond to customer opinions about products.</a:t>
            </a:r>
          </a:p>
          <a:p>
            <a:pPr>
              <a:defRPr sz="1800"/>
            </a:pPr>
            <a:endParaRPr lang="en-US" dirty="0"/>
          </a:p>
          <a:p>
            <a:pPr>
              <a:defRPr sz="1800"/>
            </a:pPr>
            <a:r>
              <a:rPr lang="en-US" dirty="0"/>
              <a:t>Key Functions:</a:t>
            </a:r>
          </a:p>
          <a:p>
            <a:pPr>
              <a:defRPr sz="1800"/>
            </a:pPr>
            <a:r>
              <a:rPr lang="en-US" dirty="0"/>
              <a:t>• Add customers and products</a:t>
            </a:r>
          </a:p>
          <a:p>
            <a:pPr>
              <a:defRPr sz="1800"/>
            </a:pPr>
            <a:r>
              <a:rPr lang="en-US" dirty="0"/>
              <a:t>• Record feedback for products</a:t>
            </a:r>
          </a:p>
          <a:p>
            <a:pPr>
              <a:defRPr sz="1800"/>
            </a:pPr>
            <a:r>
              <a:rPr lang="en-US" dirty="0"/>
              <a:t>• Display all feedback with customer and product details</a:t>
            </a:r>
          </a:p>
          <a:p>
            <a:pPr>
              <a:defRPr sz="1800"/>
            </a:pPr>
            <a:r>
              <a:rPr lang="en-US" dirty="0"/>
              <a:t>• Admin can reply to feedback</a:t>
            </a:r>
          </a:p>
          <a:p>
            <a:pPr>
              <a:defRPr sz="1800"/>
            </a:pPr>
            <a:r>
              <a:rPr lang="en-US" dirty="0"/>
              <a:t>• Store and retrieve data using MySQL through JDBC</a:t>
            </a:r>
          </a:p>
          <a:p>
            <a:pPr>
              <a:defRPr sz="1800"/>
            </a:pPr>
            <a:endParaRPr lang="en-US" dirty="0"/>
          </a:p>
          <a:p>
            <a:pPr>
              <a:defRPr sz="1800"/>
            </a:pPr>
            <a:r>
              <a:rPr lang="en-US" dirty="0"/>
              <a:t>Purpose: Demonstrate CRUD operations In Customer Feedback System.</a:t>
            </a:r>
            <a:endParaRPr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731520"/>
            <a:ext cx="2621230" cy="923330"/>
          </a:xfrm>
          <a:prstGeom prst="rect">
            <a:avLst/>
          </a:prstGeom>
          <a:noFill/>
        </p:spPr>
        <p:txBody>
          <a:bodyPr wrap="none">
            <a:spAutoFit/>
          </a:bodyPr>
          <a:lstStyle/>
          <a:p>
            <a:endParaRPr dirty="0">
              <a:solidFill>
                <a:schemeClr val="accent3"/>
              </a:solidFill>
            </a:endParaRPr>
          </a:p>
          <a:p>
            <a:pPr>
              <a:defRPr sz="3600" b="1">
                <a:solidFill>
                  <a:srgbClr val="0064FF"/>
                </a:solidFill>
              </a:defRPr>
            </a:pPr>
            <a:r>
              <a:rPr u="sng" dirty="0">
                <a:solidFill>
                  <a:schemeClr val="accent3"/>
                </a:solidFill>
              </a:rPr>
              <a:t>Tech Stack</a:t>
            </a:r>
          </a:p>
        </p:txBody>
      </p:sp>
      <p:sp>
        <p:nvSpPr>
          <p:cNvPr id="3" name="TextBox 2"/>
          <p:cNvSpPr txBox="1"/>
          <p:nvPr/>
        </p:nvSpPr>
        <p:spPr>
          <a:xfrm>
            <a:off x="914400" y="1828800"/>
            <a:ext cx="7412736" cy="3970318"/>
          </a:xfrm>
          <a:prstGeom prst="rect">
            <a:avLst/>
          </a:prstGeom>
          <a:noFill/>
        </p:spPr>
        <p:txBody>
          <a:bodyPr wrap="square">
            <a:spAutoFit/>
          </a:bodyPr>
          <a:lstStyle/>
          <a:p>
            <a:endParaRPr dirty="0"/>
          </a:p>
          <a:p>
            <a:pPr>
              <a:defRPr sz="1800"/>
            </a:pPr>
            <a:r>
              <a:rPr lang="en-IN" dirty="0"/>
              <a:t>Programming Language: Java </a:t>
            </a:r>
          </a:p>
          <a:p>
            <a:pPr>
              <a:defRPr sz="1800"/>
            </a:pPr>
            <a:endParaRPr lang="en-IN" dirty="0"/>
          </a:p>
          <a:p>
            <a:pPr>
              <a:defRPr sz="1800"/>
            </a:pPr>
            <a:r>
              <a:rPr lang="en-IN" dirty="0"/>
              <a:t>Database: MySQL</a:t>
            </a:r>
          </a:p>
          <a:p>
            <a:pPr>
              <a:defRPr sz="1800"/>
            </a:pPr>
            <a:endParaRPr lang="en-IN" dirty="0"/>
          </a:p>
          <a:p>
            <a:pPr>
              <a:defRPr sz="1800"/>
            </a:pPr>
            <a:r>
              <a:rPr lang="en-IN" dirty="0"/>
              <a:t>Connectivity: JDBC</a:t>
            </a:r>
          </a:p>
          <a:p>
            <a:pPr>
              <a:defRPr sz="1800"/>
            </a:pPr>
            <a:endParaRPr lang="en-IN" dirty="0"/>
          </a:p>
          <a:p>
            <a:pPr>
              <a:defRPr sz="1800"/>
            </a:pPr>
            <a:r>
              <a:rPr lang="en-IN" dirty="0"/>
              <a:t>Logging: Java Logging API-SLF4J</a:t>
            </a:r>
          </a:p>
          <a:p>
            <a:pPr>
              <a:defRPr sz="1800"/>
            </a:pPr>
            <a:endParaRPr lang="en-IN" dirty="0"/>
          </a:p>
          <a:p>
            <a:pPr>
              <a:defRPr sz="1800"/>
            </a:pPr>
            <a:r>
              <a:rPr lang="en-IN" dirty="0"/>
              <a:t>Testing: JUnit</a:t>
            </a:r>
          </a:p>
          <a:p>
            <a:pPr>
              <a:defRPr sz="1800"/>
            </a:pPr>
            <a:endParaRPr lang="en-IN" dirty="0"/>
          </a:p>
          <a:p>
            <a:pPr>
              <a:defRPr sz="1800"/>
            </a:pPr>
            <a:endParaRPr lang="en-IN" dirty="0"/>
          </a:p>
          <a:p>
            <a:pPr>
              <a:defRPr sz="1800"/>
            </a:pPr>
            <a:r>
              <a:rPr lang="en-IN" dirty="0"/>
              <a:t>Each layer demonstrates core database and programming principles.</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584C47-CDAF-99F6-75C1-A0369E45D311}"/>
              </a:ext>
            </a:extLst>
          </p:cNvPr>
          <p:cNvSpPr txBox="1"/>
          <p:nvPr/>
        </p:nvSpPr>
        <p:spPr>
          <a:xfrm>
            <a:off x="709954" y="702129"/>
            <a:ext cx="5538696" cy="1200329"/>
          </a:xfrm>
          <a:prstGeom prst="rect">
            <a:avLst/>
          </a:prstGeom>
          <a:noFill/>
        </p:spPr>
        <p:txBody>
          <a:bodyPr wrap="none">
            <a:spAutoFit/>
          </a:bodyPr>
          <a:lstStyle/>
          <a:p>
            <a:endParaRPr sz="3600" dirty="0">
              <a:solidFill>
                <a:schemeClr val="accent3"/>
              </a:solidFill>
            </a:endParaRPr>
          </a:p>
          <a:p>
            <a:pPr>
              <a:defRPr sz="3600" b="1">
                <a:solidFill>
                  <a:srgbClr val="0064FF"/>
                </a:solidFill>
              </a:defRPr>
            </a:pPr>
            <a:r>
              <a:rPr lang="en-US" sz="3600" u="sng" dirty="0">
                <a:solidFill>
                  <a:schemeClr val="accent3"/>
                </a:solidFill>
              </a:rPr>
              <a:t>Entities and Relationship</a:t>
            </a:r>
            <a:endParaRPr sz="3600" u="sng" dirty="0">
              <a:solidFill>
                <a:schemeClr val="accent3"/>
              </a:solidFill>
            </a:endParaRPr>
          </a:p>
        </p:txBody>
      </p:sp>
      <p:sp>
        <p:nvSpPr>
          <p:cNvPr id="5" name="TextBox 4">
            <a:extLst>
              <a:ext uri="{FF2B5EF4-FFF2-40B4-BE49-F238E27FC236}">
                <a16:creationId xmlns:a16="http://schemas.microsoft.com/office/drawing/2014/main" id="{7BB9E0D4-1A87-B20F-B562-2058EE529C39}"/>
              </a:ext>
            </a:extLst>
          </p:cNvPr>
          <p:cNvSpPr txBox="1"/>
          <p:nvPr/>
        </p:nvSpPr>
        <p:spPr>
          <a:xfrm>
            <a:off x="816069" y="2111514"/>
            <a:ext cx="7705344" cy="3693319"/>
          </a:xfrm>
          <a:prstGeom prst="rect">
            <a:avLst/>
          </a:prstGeom>
          <a:noFill/>
        </p:spPr>
        <p:txBody>
          <a:bodyPr wrap="square">
            <a:spAutoFit/>
          </a:bodyPr>
          <a:lstStyle/>
          <a:p>
            <a:pPr>
              <a:defRPr sz="1800"/>
            </a:pPr>
            <a:r>
              <a:rPr lang="en-US" dirty="0"/>
              <a:t>Tables:</a:t>
            </a:r>
          </a:p>
          <a:p>
            <a:pPr marL="342900" indent="-342900">
              <a:buAutoNum type="arabicPeriod"/>
              <a:defRPr sz="1800"/>
            </a:pPr>
            <a:r>
              <a:rPr lang="en-US" dirty="0"/>
              <a:t>Customer (Customer_ID, Customer Name, Customer Email)</a:t>
            </a:r>
          </a:p>
          <a:p>
            <a:pPr marL="342900" indent="-342900">
              <a:buAutoNum type="arabicPeriod"/>
              <a:defRPr sz="1800"/>
            </a:pPr>
            <a:endParaRPr lang="en-US" dirty="0"/>
          </a:p>
          <a:p>
            <a:pPr>
              <a:defRPr sz="1800"/>
            </a:pPr>
            <a:r>
              <a:rPr lang="en-US" dirty="0"/>
              <a:t>2. Product (Product ID, Product Name, Category)</a:t>
            </a:r>
          </a:p>
          <a:p>
            <a:pPr>
              <a:defRPr sz="1800"/>
            </a:pPr>
            <a:endParaRPr lang="en-US" dirty="0"/>
          </a:p>
          <a:p>
            <a:pPr>
              <a:defRPr sz="1800"/>
            </a:pPr>
            <a:r>
              <a:rPr lang="en-US" dirty="0"/>
              <a:t>3. Feedback (Feedback ID, Customer_ID, Product ID, Rating, Comments, Replay)</a:t>
            </a:r>
          </a:p>
          <a:p>
            <a:pPr>
              <a:defRPr sz="1800"/>
            </a:pPr>
            <a:endParaRPr lang="en-US" dirty="0"/>
          </a:p>
          <a:p>
            <a:pPr>
              <a:defRPr sz="1800"/>
            </a:pPr>
            <a:r>
              <a:rPr lang="en-US" dirty="0"/>
              <a:t>Relationships:</a:t>
            </a:r>
          </a:p>
          <a:p>
            <a:pPr>
              <a:defRPr sz="1800"/>
            </a:pPr>
            <a:endParaRPr lang="en-US" dirty="0"/>
          </a:p>
          <a:p>
            <a:pPr>
              <a:defRPr sz="1800"/>
            </a:pPr>
            <a:r>
              <a:rPr lang="en-US" dirty="0"/>
              <a:t>• One Customer → Many Feedbacks</a:t>
            </a:r>
          </a:p>
          <a:p>
            <a:pPr>
              <a:defRPr sz="1800"/>
            </a:pPr>
            <a:r>
              <a:rPr lang="en-US" dirty="0"/>
              <a:t>• One Product → Many Feedbacks</a:t>
            </a:r>
          </a:p>
          <a:p>
            <a:pPr>
              <a:defRPr sz="1800"/>
            </a:pPr>
            <a:r>
              <a:rPr lang="en-US" dirty="0"/>
              <a:t>• Feedback links Customer and Product</a:t>
            </a:r>
          </a:p>
        </p:txBody>
      </p:sp>
    </p:spTree>
    <p:extLst>
      <p:ext uri="{BB962C8B-B14F-4D97-AF65-F5344CB8AC3E}">
        <p14:creationId xmlns:p14="http://schemas.microsoft.com/office/powerpoint/2010/main" val="66056938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731520"/>
            <a:ext cx="2752677" cy="1200329"/>
          </a:xfrm>
          <a:prstGeom prst="rect">
            <a:avLst/>
          </a:prstGeom>
          <a:noFill/>
        </p:spPr>
        <p:txBody>
          <a:bodyPr wrap="none">
            <a:spAutoFit/>
          </a:bodyPr>
          <a:lstStyle/>
          <a:p>
            <a:pPr algn="ctr"/>
            <a:endParaRPr sz="3600" dirty="0">
              <a:solidFill>
                <a:schemeClr val="accent3"/>
              </a:solidFill>
            </a:endParaRPr>
          </a:p>
          <a:p>
            <a:pPr algn="ctr">
              <a:defRPr sz="3600" b="1">
                <a:solidFill>
                  <a:srgbClr val="0064FF"/>
                </a:solidFill>
              </a:defRPr>
            </a:pPr>
            <a:r>
              <a:rPr sz="3600" u="sng" dirty="0">
                <a:solidFill>
                  <a:schemeClr val="accent3"/>
                </a:solidFill>
              </a:rPr>
              <a:t>ER Diagram</a:t>
            </a:r>
          </a:p>
        </p:txBody>
      </p:sp>
      <p:sp>
        <p:nvSpPr>
          <p:cNvPr id="3" name="TextBox 2"/>
          <p:cNvSpPr txBox="1"/>
          <p:nvPr/>
        </p:nvSpPr>
        <p:spPr>
          <a:xfrm>
            <a:off x="914400" y="1828800"/>
            <a:ext cx="7051249" cy="677108"/>
          </a:xfrm>
          <a:prstGeom prst="rect">
            <a:avLst/>
          </a:prstGeom>
          <a:noFill/>
        </p:spPr>
        <p:txBody>
          <a:bodyPr wrap="square">
            <a:spAutoFit/>
          </a:bodyPr>
          <a:lstStyle/>
          <a:p>
            <a:endParaRPr/>
          </a:p>
          <a:p>
            <a:pPr>
              <a:defRPr sz="2000">
                <a:solidFill>
                  <a:srgbClr val="FFFFFF"/>
                </a:solidFill>
              </a:defRPr>
            </a:pPr>
            <a:r>
              <a:t>[Add your er diagram here]</a:t>
            </a:r>
          </a:p>
        </p:txBody>
      </p:sp>
      <p:pic>
        <p:nvPicPr>
          <p:cNvPr id="1026" name="Picture 2">
            <a:extLst>
              <a:ext uri="{FF2B5EF4-FFF2-40B4-BE49-F238E27FC236}">
                <a16:creationId xmlns:a16="http://schemas.microsoft.com/office/drawing/2014/main" id="{1DA9208C-0F2C-B308-5943-A71D5AF4479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239" r="3914" b="4297"/>
          <a:stretch>
            <a:fillRect/>
          </a:stretch>
        </p:blipFill>
        <p:spPr bwMode="auto">
          <a:xfrm>
            <a:off x="808182" y="2102178"/>
            <a:ext cx="7527636" cy="37619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731520"/>
            <a:ext cx="4511556" cy="923330"/>
          </a:xfrm>
          <a:prstGeom prst="rect">
            <a:avLst/>
          </a:prstGeom>
          <a:noFill/>
        </p:spPr>
        <p:txBody>
          <a:bodyPr wrap="none">
            <a:spAutoFit/>
          </a:bodyPr>
          <a:lstStyle/>
          <a:p>
            <a:endParaRPr dirty="0"/>
          </a:p>
          <a:p>
            <a:pPr>
              <a:defRPr sz="3600" b="1">
                <a:solidFill>
                  <a:srgbClr val="0064FF"/>
                </a:solidFill>
              </a:defRPr>
            </a:pPr>
            <a:r>
              <a:rPr u="sng" dirty="0">
                <a:solidFill>
                  <a:schemeClr val="accent3"/>
                </a:solidFill>
              </a:rPr>
              <a:t>Output Screenshots</a:t>
            </a:r>
          </a:p>
        </p:txBody>
      </p:sp>
      <p:pic>
        <p:nvPicPr>
          <p:cNvPr id="4" name="Picture 3">
            <a:extLst>
              <a:ext uri="{FF2B5EF4-FFF2-40B4-BE49-F238E27FC236}">
                <a16:creationId xmlns:a16="http://schemas.microsoft.com/office/drawing/2014/main" id="{5CB28CB9-2503-C9E0-CF6E-644C172DE961}"/>
              </a:ext>
            </a:extLst>
          </p:cNvPr>
          <p:cNvPicPr>
            <a:picLocks noChangeAspect="1"/>
          </p:cNvPicPr>
          <p:nvPr/>
        </p:nvPicPr>
        <p:blipFill>
          <a:blip r:embed="rId2"/>
          <a:stretch>
            <a:fillRect/>
          </a:stretch>
        </p:blipFill>
        <p:spPr>
          <a:xfrm>
            <a:off x="1845898" y="1816608"/>
            <a:ext cx="6134956" cy="422116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9E749A5-4732-A6FF-A719-D70E2D05B145}"/>
              </a:ext>
            </a:extLst>
          </p:cNvPr>
          <p:cNvPicPr>
            <a:picLocks noChangeAspect="1"/>
          </p:cNvPicPr>
          <p:nvPr/>
        </p:nvPicPr>
        <p:blipFill>
          <a:blip r:embed="rId2"/>
          <a:stretch>
            <a:fillRect/>
          </a:stretch>
        </p:blipFill>
        <p:spPr>
          <a:xfrm>
            <a:off x="1084289" y="1751129"/>
            <a:ext cx="2753109" cy="990738"/>
          </a:xfrm>
          <a:prstGeom prst="rect">
            <a:avLst/>
          </a:prstGeom>
        </p:spPr>
      </p:pic>
      <p:pic>
        <p:nvPicPr>
          <p:cNvPr id="8" name="Picture 7">
            <a:extLst>
              <a:ext uri="{FF2B5EF4-FFF2-40B4-BE49-F238E27FC236}">
                <a16:creationId xmlns:a16="http://schemas.microsoft.com/office/drawing/2014/main" id="{D8DB212B-D4C7-7CC4-8F8D-87C34F6E6A91}"/>
              </a:ext>
            </a:extLst>
          </p:cNvPr>
          <p:cNvPicPr>
            <a:picLocks noChangeAspect="1"/>
          </p:cNvPicPr>
          <p:nvPr/>
        </p:nvPicPr>
        <p:blipFill>
          <a:blip r:embed="rId3"/>
          <a:stretch>
            <a:fillRect/>
          </a:stretch>
        </p:blipFill>
        <p:spPr>
          <a:xfrm>
            <a:off x="5306603" y="1751129"/>
            <a:ext cx="3087414" cy="990737"/>
          </a:xfrm>
          <a:prstGeom prst="rect">
            <a:avLst/>
          </a:prstGeom>
        </p:spPr>
      </p:pic>
      <p:sp>
        <p:nvSpPr>
          <p:cNvPr id="3" name="TextBox 2">
            <a:extLst>
              <a:ext uri="{FF2B5EF4-FFF2-40B4-BE49-F238E27FC236}">
                <a16:creationId xmlns:a16="http://schemas.microsoft.com/office/drawing/2014/main" id="{72B53B97-3DEC-454F-BD69-B7051BC1E08B}"/>
              </a:ext>
            </a:extLst>
          </p:cNvPr>
          <p:cNvSpPr txBox="1"/>
          <p:nvPr/>
        </p:nvSpPr>
        <p:spPr>
          <a:xfrm>
            <a:off x="1601473" y="1137797"/>
            <a:ext cx="1718740" cy="369332"/>
          </a:xfrm>
          <a:prstGeom prst="rect">
            <a:avLst/>
          </a:prstGeom>
          <a:noFill/>
        </p:spPr>
        <p:txBody>
          <a:bodyPr wrap="none" rtlCol="0">
            <a:spAutoFit/>
          </a:bodyPr>
          <a:lstStyle/>
          <a:p>
            <a:r>
              <a:rPr lang="en-US" dirty="0"/>
              <a:t>Update email</a:t>
            </a:r>
            <a:endParaRPr lang="en-IN" dirty="0"/>
          </a:p>
        </p:txBody>
      </p:sp>
      <p:sp>
        <p:nvSpPr>
          <p:cNvPr id="4" name="TextBox 3">
            <a:extLst>
              <a:ext uri="{FF2B5EF4-FFF2-40B4-BE49-F238E27FC236}">
                <a16:creationId xmlns:a16="http://schemas.microsoft.com/office/drawing/2014/main" id="{E155DB7D-1478-0AC6-7419-9DF2920EA718}"/>
              </a:ext>
            </a:extLst>
          </p:cNvPr>
          <p:cNvSpPr txBox="1"/>
          <p:nvPr/>
        </p:nvSpPr>
        <p:spPr>
          <a:xfrm>
            <a:off x="5809800" y="1150251"/>
            <a:ext cx="2081019" cy="369332"/>
          </a:xfrm>
          <a:prstGeom prst="rect">
            <a:avLst/>
          </a:prstGeom>
          <a:noFill/>
        </p:spPr>
        <p:txBody>
          <a:bodyPr wrap="none" rtlCol="0">
            <a:spAutoFit/>
          </a:bodyPr>
          <a:lstStyle/>
          <a:p>
            <a:r>
              <a:rPr lang="en-US" dirty="0"/>
              <a:t>Delete Customer</a:t>
            </a:r>
            <a:endParaRPr lang="en-IN" dirty="0"/>
          </a:p>
        </p:txBody>
      </p:sp>
      <p:sp>
        <p:nvSpPr>
          <p:cNvPr id="5" name="TextBox 4">
            <a:extLst>
              <a:ext uri="{FF2B5EF4-FFF2-40B4-BE49-F238E27FC236}">
                <a16:creationId xmlns:a16="http://schemas.microsoft.com/office/drawing/2014/main" id="{E1B56A42-3F80-0B4D-F56E-FCA73C2F977C}"/>
              </a:ext>
            </a:extLst>
          </p:cNvPr>
          <p:cNvSpPr txBox="1"/>
          <p:nvPr/>
        </p:nvSpPr>
        <p:spPr>
          <a:xfrm>
            <a:off x="3396037" y="3030449"/>
            <a:ext cx="1999265" cy="646331"/>
          </a:xfrm>
          <a:prstGeom prst="rect">
            <a:avLst/>
          </a:prstGeom>
          <a:noFill/>
        </p:spPr>
        <p:txBody>
          <a:bodyPr wrap="none" rtlCol="0">
            <a:spAutoFit/>
          </a:bodyPr>
          <a:lstStyle/>
          <a:p>
            <a:r>
              <a:rPr lang="en-IN" dirty="0"/>
              <a:t>Give Feedback</a:t>
            </a:r>
          </a:p>
          <a:p>
            <a:endParaRPr lang="en-IN" dirty="0"/>
          </a:p>
        </p:txBody>
      </p:sp>
      <p:pic>
        <p:nvPicPr>
          <p:cNvPr id="20" name="Picture 19">
            <a:extLst>
              <a:ext uri="{FF2B5EF4-FFF2-40B4-BE49-F238E27FC236}">
                <a16:creationId xmlns:a16="http://schemas.microsoft.com/office/drawing/2014/main" id="{A6C128DE-87C6-11CB-608E-0D1072FE03C6}"/>
              </a:ext>
            </a:extLst>
          </p:cNvPr>
          <p:cNvPicPr>
            <a:picLocks noChangeAspect="1"/>
          </p:cNvPicPr>
          <p:nvPr/>
        </p:nvPicPr>
        <p:blipFill>
          <a:blip r:embed="rId4"/>
          <a:stretch>
            <a:fillRect/>
          </a:stretch>
        </p:blipFill>
        <p:spPr>
          <a:xfrm>
            <a:off x="1393862" y="3508514"/>
            <a:ext cx="6496957" cy="2703444"/>
          </a:xfrm>
          <a:prstGeom prst="rect">
            <a:avLst/>
          </a:prstGeom>
        </p:spPr>
      </p:pic>
    </p:spTree>
    <p:extLst>
      <p:ext uri="{BB962C8B-B14F-4D97-AF65-F5344CB8AC3E}">
        <p14:creationId xmlns:p14="http://schemas.microsoft.com/office/powerpoint/2010/main" val="98386650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8DD3-6069-767F-B94E-003D64BC5F7F}"/>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0FE1D02D-7EF3-A933-4FD0-933589EB0DB0}"/>
              </a:ext>
            </a:extLst>
          </p:cNvPr>
          <p:cNvPicPr>
            <a:picLocks noChangeAspect="1"/>
          </p:cNvPicPr>
          <p:nvPr/>
        </p:nvPicPr>
        <p:blipFill>
          <a:blip r:embed="rId2"/>
          <a:stretch>
            <a:fillRect/>
          </a:stretch>
        </p:blipFill>
        <p:spPr>
          <a:xfrm>
            <a:off x="3687291" y="921720"/>
            <a:ext cx="3909026" cy="1573001"/>
          </a:xfrm>
          <a:prstGeom prst="rect">
            <a:avLst/>
          </a:prstGeom>
        </p:spPr>
      </p:pic>
      <p:pic>
        <p:nvPicPr>
          <p:cNvPr id="24" name="Picture 23">
            <a:extLst>
              <a:ext uri="{FF2B5EF4-FFF2-40B4-BE49-F238E27FC236}">
                <a16:creationId xmlns:a16="http://schemas.microsoft.com/office/drawing/2014/main" id="{C0CB8AAB-B10B-14EC-F65D-B55B5A9BFB0E}"/>
              </a:ext>
            </a:extLst>
          </p:cNvPr>
          <p:cNvPicPr>
            <a:picLocks noChangeAspect="1"/>
          </p:cNvPicPr>
          <p:nvPr/>
        </p:nvPicPr>
        <p:blipFill>
          <a:blip r:embed="rId3"/>
          <a:stretch>
            <a:fillRect/>
          </a:stretch>
        </p:blipFill>
        <p:spPr>
          <a:xfrm>
            <a:off x="3687291" y="3766930"/>
            <a:ext cx="3994786" cy="1055679"/>
          </a:xfrm>
          <a:prstGeom prst="rect">
            <a:avLst/>
          </a:prstGeom>
        </p:spPr>
      </p:pic>
      <p:sp>
        <p:nvSpPr>
          <p:cNvPr id="2" name="TextBox 1">
            <a:extLst>
              <a:ext uri="{FF2B5EF4-FFF2-40B4-BE49-F238E27FC236}">
                <a16:creationId xmlns:a16="http://schemas.microsoft.com/office/drawing/2014/main" id="{0B456AEE-5604-751A-0B2E-066AC7A98598}"/>
              </a:ext>
            </a:extLst>
          </p:cNvPr>
          <p:cNvSpPr txBox="1"/>
          <p:nvPr/>
        </p:nvSpPr>
        <p:spPr>
          <a:xfrm>
            <a:off x="1056295" y="1542242"/>
            <a:ext cx="2444900" cy="369332"/>
          </a:xfrm>
          <a:prstGeom prst="rect">
            <a:avLst/>
          </a:prstGeom>
          <a:noFill/>
        </p:spPr>
        <p:txBody>
          <a:bodyPr wrap="none" rtlCol="0">
            <a:spAutoFit/>
          </a:bodyPr>
          <a:lstStyle/>
          <a:p>
            <a:r>
              <a:rPr lang="en-US" dirty="0"/>
              <a:t>Updating Feedback</a:t>
            </a:r>
            <a:endParaRPr lang="en-IN" dirty="0"/>
          </a:p>
        </p:txBody>
      </p:sp>
      <p:sp>
        <p:nvSpPr>
          <p:cNvPr id="3" name="TextBox 2">
            <a:extLst>
              <a:ext uri="{FF2B5EF4-FFF2-40B4-BE49-F238E27FC236}">
                <a16:creationId xmlns:a16="http://schemas.microsoft.com/office/drawing/2014/main" id="{5B0BA572-D5D5-7739-0F40-586E4140A0EF}"/>
              </a:ext>
            </a:extLst>
          </p:cNvPr>
          <p:cNvSpPr txBox="1"/>
          <p:nvPr/>
        </p:nvSpPr>
        <p:spPr>
          <a:xfrm>
            <a:off x="1108392" y="4218784"/>
            <a:ext cx="2340705" cy="369332"/>
          </a:xfrm>
          <a:prstGeom prst="rect">
            <a:avLst/>
          </a:prstGeom>
          <a:noFill/>
        </p:spPr>
        <p:txBody>
          <a:bodyPr wrap="none" rtlCol="0">
            <a:spAutoFit/>
          </a:bodyPr>
          <a:lstStyle/>
          <a:p>
            <a:r>
              <a:rPr lang="en-US" dirty="0"/>
              <a:t>Deleting Feedback</a:t>
            </a:r>
            <a:endParaRPr lang="en-IN" dirty="0"/>
          </a:p>
        </p:txBody>
      </p:sp>
    </p:spTree>
    <p:extLst>
      <p:ext uri="{BB962C8B-B14F-4D97-AF65-F5344CB8AC3E}">
        <p14:creationId xmlns:p14="http://schemas.microsoft.com/office/powerpoint/2010/main" val="3647693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208FDC-05D9-3B06-3DCE-5E4B0BC73E6F}"/>
              </a:ext>
            </a:extLst>
          </p:cNvPr>
          <p:cNvSpPr txBox="1"/>
          <p:nvPr/>
        </p:nvSpPr>
        <p:spPr>
          <a:xfrm>
            <a:off x="1182757" y="944218"/>
            <a:ext cx="1620957" cy="369332"/>
          </a:xfrm>
          <a:prstGeom prst="rect">
            <a:avLst/>
          </a:prstGeom>
          <a:noFill/>
        </p:spPr>
        <p:txBody>
          <a:bodyPr wrap="none" rtlCol="0">
            <a:spAutoFit/>
          </a:bodyPr>
          <a:lstStyle/>
          <a:p>
            <a:r>
              <a:rPr lang="en-US" dirty="0"/>
              <a:t>Add Product</a:t>
            </a:r>
            <a:endParaRPr lang="en-IN" dirty="0"/>
          </a:p>
        </p:txBody>
      </p:sp>
      <p:pic>
        <p:nvPicPr>
          <p:cNvPr id="5" name="Picture 4">
            <a:extLst>
              <a:ext uri="{FF2B5EF4-FFF2-40B4-BE49-F238E27FC236}">
                <a16:creationId xmlns:a16="http://schemas.microsoft.com/office/drawing/2014/main" id="{E40F172A-A70C-E09F-B040-D9B96EED4F0E}"/>
              </a:ext>
            </a:extLst>
          </p:cNvPr>
          <p:cNvPicPr>
            <a:picLocks noChangeAspect="1"/>
          </p:cNvPicPr>
          <p:nvPr/>
        </p:nvPicPr>
        <p:blipFill>
          <a:blip r:embed="rId2"/>
          <a:stretch>
            <a:fillRect/>
          </a:stretch>
        </p:blipFill>
        <p:spPr>
          <a:xfrm>
            <a:off x="1571206" y="1403002"/>
            <a:ext cx="6001588" cy="3439005"/>
          </a:xfrm>
          <a:prstGeom prst="rect">
            <a:avLst/>
          </a:prstGeom>
        </p:spPr>
      </p:pic>
    </p:spTree>
    <p:extLst>
      <p:ext uri="{BB962C8B-B14F-4D97-AF65-F5344CB8AC3E}">
        <p14:creationId xmlns:p14="http://schemas.microsoft.com/office/powerpoint/2010/main" val="408799770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E45B079-29AD-CE71-F2C3-138C81D72B7F}"/>
              </a:ext>
            </a:extLst>
          </p:cNvPr>
          <p:cNvPicPr>
            <a:picLocks noChangeAspect="1"/>
          </p:cNvPicPr>
          <p:nvPr/>
        </p:nvPicPr>
        <p:blipFill>
          <a:blip r:embed="rId2"/>
          <a:stretch>
            <a:fillRect/>
          </a:stretch>
        </p:blipFill>
        <p:spPr>
          <a:xfrm>
            <a:off x="1449270" y="1915470"/>
            <a:ext cx="2667372" cy="1028844"/>
          </a:xfrm>
          <a:prstGeom prst="rect">
            <a:avLst/>
          </a:prstGeom>
        </p:spPr>
      </p:pic>
      <p:pic>
        <p:nvPicPr>
          <p:cNvPr id="18" name="Picture 17">
            <a:extLst>
              <a:ext uri="{FF2B5EF4-FFF2-40B4-BE49-F238E27FC236}">
                <a16:creationId xmlns:a16="http://schemas.microsoft.com/office/drawing/2014/main" id="{9A4BCF41-F1A5-EFCF-C690-D802F9A33DAE}"/>
              </a:ext>
            </a:extLst>
          </p:cNvPr>
          <p:cNvPicPr>
            <a:picLocks noChangeAspect="1"/>
          </p:cNvPicPr>
          <p:nvPr/>
        </p:nvPicPr>
        <p:blipFill>
          <a:blip r:embed="rId3"/>
          <a:stretch>
            <a:fillRect/>
          </a:stretch>
        </p:blipFill>
        <p:spPr>
          <a:xfrm>
            <a:off x="4932867" y="1952781"/>
            <a:ext cx="3219063" cy="954222"/>
          </a:xfrm>
          <a:prstGeom prst="rect">
            <a:avLst/>
          </a:prstGeom>
        </p:spPr>
      </p:pic>
      <p:sp>
        <p:nvSpPr>
          <p:cNvPr id="2" name="TextBox 1">
            <a:extLst>
              <a:ext uri="{FF2B5EF4-FFF2-40B4-BE49-F238E27FC236}">
                <a16:creationId xmlns:a16="http://schemas.microsoft.com/office/drawing/2014/main" id="{6AC4D66C-5746-0BBB-348A-BC77668D8260}"/>
              </a:ext>
            </a:extLst>
          </p:cNvPr>
          <p:cNvSpPr txBox="1"/>
          <p:nvPr/>
        </p:nvSpPr>
        <p:spPr>
          <a:xfrm>
            <a:off x="1689651" y="1574560"/>
            <a:ext cx="2186609" cy="369332"/>
          </a:xfrm>
          <a:prstGeom prst="rect">
            <a:avLst/>
          </a:prstGeom>
          <a:noFill/>
        </p:spPr>
        <p:txBody>
          <a:bodyPr wrap="square" rtlCol="0">
            <a:spAutoFit/>
          </a:bodyPr>
          <a:lstStyle/>
          <a:p>
            <a:r>
              <a:rPr lang="en-US" dirty="0"/>
              <a:t>Update Product</a:t>
            </a:r>
            <a:endParaRPr lang="en-IN" dirty="0"/>
          </a:p>
        </p:txBody>
      </p:sp>
      <p:sp>
        <p:nvSpPr>
          <p:cNvPr id="3" name="TextBox 2">
            <a:extLst>
              <a:ext uri="{FF2B5EF4-FFF2-40B4-BE49-F238E27FC236}">
                <a16:creationId xmlns:a16="http://schemas.microsoft.com/office/drawing/2014/main" id="{33239807-F0D1-DD82-CA17-AEEB9059C776}"/>
              </a:ext>
            </a:extLst>
          </p:cNvPr>
          <p:cNvSpPr txBox="1"/>
          <p:nvPr/>
        </p:nvSpPr>
        <p:spPr>
          <a:xfrm>
            <a:off x="5494497" y="1574560"/>
            <a:ext cx="1880643" cy="369332"/>
          </a:xfrm>
          <a:prstGeom prst="rect">
            <a:avLst/>
          </a:prstGeom>
          <a:noFill/>
        </p:spPr>
        <p:txBody>
          <a:bodyPr wrap="none" rtlCol="0">
            <a:spAutoFit/>
          </a:bodyPr>
          <a:lstStyle/>
          <a:p>
            <a:r>
              <a:rPr lang="en-US" dirty="0"/>
              <a:t>Delete Product</a:t>
            </a:r>
            <a:endParaRPr lang="en-IN" dirty="0"/>
          </a:p>
        </p:txBody>
      </p:sp>
      <p:sp>
        <p:nvSpPr>
          <p:cNvPr id="4" name="TextBox 3">
            <a:extLst>
              <a:ext uri="{FF2B5EF4-FFF2-40B4-BE49-F238E27FC236}">
                <a16:creationId xmlns:a16="http://schemas.microsoft.com/office/drawing/2014/main" id="{51C8B4BF-887F-A8CB-DC52-AFABB1CDC30A}"/>
              </a:ext>
            </a:extLst>
          </p:cNvPr>
          <p:cNvSpPr txBox="1"/>
          <p:nvPr/>
        </p:nvSpPr>
        <p:spPr>
          <a:xfrm>
            <a:off x="3520806" y="3994738"/>
            <a:ext cx="2310248" cy="369332"/>
          </a:xfrm>
          <a:prstGeom prst="rect">
            <a:avLst/>
          </a:prstGeom>
          <a:noFill/>
        </p:spPr>
        <p:txBody>
          <a:bodyPr wrap="none" rtlCol="0">
            <a:spAutoFit/>
          </a:bodyPr>
          <a:lstStyle/>
          <a:p>
            <a:r>
              <a:rPr lang="en-US" dirty="0"/>
              <a:t>Reply to Feedback</a:t>
            </a:r>
            <a:endParaRPr lang="en-IN" dirty="0"/>
          </a:p>
        </p:txBody>
      </p:sp>
      <p:pic>
        <p:nvPicPr>
          <p:cNvPr id="12" name="Picture 11">
            <a:extLst>
              <a:ext uri="{FF2B5EF4-FFF2-40B4-BE49-F238E27FC236}">
                <a16:creationId xmlns:a16="http://schemas.microsoft.com/office/drawing/2014/main" id="{0520F365-7A9D-CE9B-F4AB-6CACCF1A7AE5}"/>
              </a:ext>
            </a:extLst>
          </p:cNvPr>
          <p:cNvPicPr>
            <a:picLocks noChangeAspect="1"/>
          </p:cNvPicPr>
          <p:nvPr/>
        </p:nvPicPr>
        <p:blipFill>
          <a:blip r:embed="rId4"/>
          <a:stretch>
            <a:fillRect/>
          </a:stretch>
        </p:blipFill>
        <p:spPr>
          <a:xfrm>
            <a:off x="2893814" y="4326759"/>
            <a:ext cx="3648584" cy="785191"/>
          </a:xfrm>
          <a:prstGeom prst="rect">
            <a:avLst/>
          </a:prstGeom>
        </p:spPr>
      </p:pic>
    </p:spTree>
    <p:extLst>
      <p:ext uri="{BB962C8B-B14F-4D97-AF65-F5344CB8AC3E}">
        <p14:creationId xmlns:p14="http://schemas.microsoft.com/office/powerpoint/2010/main" val="212334030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3DA96D5F-4D15-292F-6080-9532F517A639}"/>
              </a:ext>
            </a:extLst>
          </p:cNvPr>
          <p:cNvPicPr>
            <a:picLocks noChangeAspect="1"/>
          </p:cNvPicPr>
          <p:nvPr/>
        </p:nvPicPr>
        <p:blipFill>
          <a:blip r:embed="rId2"/>
          <a:stretch>
            <a:fillRect/>
          </a:stretch>
        </p:blipFill>
        <p:spPr>
          <a:xfrm>
            <a:off x="3687291" y="4422044"/>
            <a:ext cx="4296375" cy="1667108"/>
          </a:xfrm>
          <a:prstGeom prst="rect">
            <a:avLst/>
          </a:prstGeom>
        </p:spPr>
      </p:pic>
      <p:sp>
        <p:nvSpPr>
          <p:cNvPr id="4" name="TextBox 3">
            <a:extLst>
              <a:ext uri="{FF2B5EF4-FFF2-40B4-BE49-F238E27FC236}">
                <a16:creationId xmlns:a16="http://schemas.microsoft.com/office/drawing/2014/main" id="{C04F2076-D155-8B16-51FF-B0F19CA400C3}"/>
              </a:ext>
            </a:extLst>
          </p:cNvPr>
          <p:cNvSpPr txBox="1"/>
          <p:nvPr/>
        </p:nvSpPr>
        <p:spPr>
          <a:xfrm>
            <a:off x="1160334" y="4946426"/>
            <a:ext cx="1983235" cy="369332"/>
          </a:xfrm>
          <a:prstGeom prst="rect">
            <a:avLst/>
          </a:prstGeom>
          <a:noFill/>
        </p:spPr>
        <p:txBody>
          <a:bodyPr wrap="none" rtlCol="0">
            <a:spAutoFit/>
          </a:bodyPr>
          <a:lstStyle/>
          <a:p>
            <a:r>
              <a:rPr lang="en-US" dirty="0"/>
              <a:t>Closing Console</a:t>
            </a:r>
            <a:endParaRPr lang="en-IN" dirty="0"/>
          </a:p>
        </p:txBody>
      </p:sp>
      <p:pic>
        <p:nvPicPr>
          <p:cNvPr id="6" name="Picture 5">
            <a:extLst>
              <a:ext uri="{FF2B5EF4-FFF2-40B4-BE49-F238E27FC236}">
                <a16:creationId xmlns:a16="http://schemas.microsoft.com/office/drawing/2014/main" id="{FDFC6802-E200-A5D1-9EBB-23B921C014AD}"/>
              </a:ext>
            </a:extLst>
          </p:cNvPr>
          <p:cNvPicPr>
            <a:picLocks noChangeAspect="1"/>
          </p:cNvPicPr>
          <p:nvPr/>
        </p:nvPicPr>
        <p:blipFill>
          <a:blip r:embed="rId3"/>
          <a:stretch>
            <a:fillRect/>
          </a:stretch>
        </p:blipFill>
        <p:spPr>
          <a:xfrm>
            <a:off x="1088553" y="1780944"/>
            <a:ext cx="6763694" cy="1648055"/>
          </a:xfrm>
          <a:prstGeom prst="rect">
            <a:avLst/>
          </a:prstGeom>
        </p:spPr>
      </p:pic>
      <p:sp>
        <p:nvSpPr>
          <p:cNvPr id="7" name="TextBox 6">
            <a:extLst>
              <a:ext uri="{FF2B5EF4-FFF2-40B4-BE49-F238E27FC236}">
                <a16:creationId xmlns:a16="http://schemas.microsoft.com/office/drawing/2014/main" id="{E96DD376-C45F-298C-F3F4-BDE84F4BBDA0}"/>
              </a:ext>
            </a:extLst>
          </p:cNvPr>
          <p:cNvSpPr txBox="1"/>
          <p:nvPr/>
        </p:nvSpPr>
        <p:spPr>
          <a:xfrm>
            <a:off x="3143569" y="1411612"/>
            <a:ext cx="2279791" cy="369332"/>
          </a:xfrm>
          <a:prstGeom prst="rect">
            <a:avLst/>
          </a:prstGeom>
          <a:noFill/>
        </p:spPr>
        <p:txBody>
          <a:bodyPr wrap="none" rtlCol="0">
            <a:spAutoFit/>
          </a:bodyPr>
          <a:lstStyle/>
          <a:p>
            <a:r>
              <a:rPr lang="en-US" dirty="0"/>
              <a:t>View All Feedback</a:t>
            </a:r>
            <a:endParaRPr lang="en-IN" dirty="0"/>
          </a:p>
        </p:txBody>
      </p:sp>
    </p:spTree>
    <p:extLst>
      <p:ext uri="{BB962C8B-B14F-4D97-AF65-F5344CB8AC3E}">
        <p14:creationId xmlns:p14="http://schemas.microsoft.com/office/powerpoint/2010/main" val="96058706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731520"/>
            <a:ext cx="2686954" cy="1200329"/>
          </a:xfrm>
          <a:prstGeom prst="rect">
            <a:avLst/>
          </a:prstGeom>
          <a:noFill/>
        </p:spPr>
        <p:txBody>
          <a:bodyPr wrap="none">
            <a:spAutoFit/>
          </a:bodyPr>
          <a:lstStyle/>
          <a:p>
            <a:endParaRPr sz="3600" dirty="0">
              <a:solidFill>
                <a:schemeClr val="accent3"/>
              </a:solidFill>
            </a:endParaRPr>
          </a:p>
          <a:p>
            <a:pPr>
              <a:defRPr sz="3600" b="1">
                <a:solidFill>
                  <a:srgbClr val="0064FF"/>
                </a:solidFill>
              </a:defRPr>
            </a:pPr>
            <a:r>
              <a:rPr sz="3600" dirty="0">
                <a:solidFill>
                  <a:schemeClr val="accent3"/>
                </a:solidFill>
              </a:rPr>
              <a:t>Conclusion</a:t>
            </a:r>
          </a:p>
        </p:txBody>
      </p:sp>
      <p:sp>
        <p:nvSpPr>
          <p:cNvPr id="3" name="TextBox 2"/>
          <p:cNvSpPr txBox="1"/>
          <p:nvPr/>
        </p:nvSpPr>
        <p:spPr>
          <a:xfrm>
            <a:off x="731520" y="1828800"/>
            <a:ext cx="8059189" cy="2554545"/>
          </a:xfrm>
          <a:prstGeom prst="rect">
            <a:avLst/>
          </a:prstGeom>
          <a:noFill/>
        </p:spPr>
        <p:txBody>
          <a:bodyPr wrap="square">
            <a:spAutoFit/>
          </a:bodyPr>
          <a:lstStyle/>
          <a:p>
            <a:endParaRPr sz="2000" dirty="0"/>
          </a:p>
          <a:p>
            <a:pPr>
              <a:defRPr sz="2000">
                <a:solidFill>
                  <a:srgbClr val="FFFFFF"/>
                </a:solidFill>
              </a:defRPr>
            </a:pPr>
            <a:r>
              <a:rPr lang="en-US" sz="2000" dirty="0">
                <a:solidFill>
                  <a:schemeClr val="tx1">
                    <a:lumMod val="95000"/>
                    <a:lumOff val="5000"/>
                  </a:schemeClr>
                </a:solidFill>
              </a:rPr>
              <a:t>The </a:t>
            </a:r>
            <a:r>
              <a:rPr lang="en-US" sz="2000" i="1" dirty="0">
                <a:solidFill>
                  <a:schemeClr val="tx1">
                    <a:lumMod val="95000"/>
                    <a:lumOff val="5000"/>
                  </a:schemeClr>
                </a:solidFill>
              </a:rPr>
              <a:t>Customer Feedback System</a:t>
            </a:r>
            <a:r>
              <a:rPr lang="en-US" sz="2000" dirty="0">
                <a:solidFill>
                  <a:schemeClr val="tx1">
                    <a:lumMod val="95000"/>
                    <a:lumOff val="5000"/>
                  </a:schemeClr>
                </a:solidFill>
              </a:rPr>
              <a:t> successfully demonstrates how to manage customer, product, and feedback data using Java, MySQL, and JDBC. It showcases core CRUD operations, modular design, and proper data relationships between entities. The system provides a simple yet functional console interface for both customers and administrators to interact efficiently.</a:t>
            </a:r>
            <a:endParaRPr sz="2000"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97</TotalTime>
  <Words>266</Words>
  <Application>Microsoft Office PowerPoint</Application>
  <PresentationFormat>On-screen Show (4:3)</PresentationFormat>
  <Paragraphs>65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 Gothic</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Swathi s</cp:lastModifiedBy>
  <cp:revision>11</cp:revision>
  <dcterms:created xsi:type="dcterms:W3CDTF">2013-01-27T09:14:16Z</dcterms:created>
  <dcterms:modified xsi:type="dcterms:W3CDTF">2025-11-03T07:29:02Z</dcterms:modified>
  <cp:category/>
</cp:coreProperties>
</file>